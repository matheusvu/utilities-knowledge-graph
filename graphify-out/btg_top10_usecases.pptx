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486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C9A02B"/>
                </a:solidFill>
              </a:rPr>
              <a:t>graphify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4630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Top 10 Use Cases for Private Credit in Brazilian Utilities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2697480"/>
            <a:ext cx="8686800" cy="36576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83464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ECF4"/>
                </a:solidFill>
              </a:rPr>
              <a:t>A knowledge-graph intelligence layer purpose-built for credit officers covering
the Brazilian energy &amp; utilities sector — updated April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080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7B5"/>
                </a:solidFill>
              </a:rPr>
              <a:t>Prepared for: Head of Private Credit — Utilities | BTG Pactual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080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8A97B5"/>
                </a:solidFill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is graphify?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51560"/>
            <a:ext cx="8686800" cy="36576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ECF4"/>
                </a:solidFill>
              </a:rPr>
              <a:t>graphify transforms your research documents — PDFs, regulatory filings, annual reports, news — into a queryable knowledge graph. Every concept, relationship, and regulatory link is extracted, mapped, and made searchable in seconds.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31720"/>
            <a:ext cx="3291840" cy="3200400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31720"/>
            <a:ext cx="3291840" cy="502920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774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3E"/>
                </a:solidFill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7180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CF4"/>
                </a:solidFill>
              </a:rPr>
              <a:t>Drop any document:
PDFs, Markdown, images,
regulatory filings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2331720"/>
            <a:ext cx="3291840" cy="3200400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0" y="2331720"/>
            <a:ext cx="3291840" cy="502920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23774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3E"/>
                </a:solidFill>
              </a:rPr>
              <a:t>GRAPH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97180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CF4"/>
                </a:solidFill>
              </a:rPr>
              <a:t>AI extracts nodes &amp;
edges — explicit facts
+ inferred connections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2331720"/>
            <a:ext cx="3291840" cy="3200400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2331720"/>
            <a:ext cx="3291840" cy="502920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23774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3E"/>
                </a:solidFill>
              </a:rPr>
              <a:t>QUERY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97180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CF4"/>
                </a:solidFill>
              </a:rPr>
              <a:t>Ask questions in plain
Português or English.
Get cited answers.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6080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A02B"/>
                </a:solidFill>
              </a:rPr>
              <a:t>71× fewer tokens per query vs. re-reading raw documents   |   SHA-256 cache — only processes new files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28600"/>
            <a:ext cx="777240" cy="685800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46888"/>
            <a:ext cx="777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1B3E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56032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Regulatory Risk Radar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8412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9A02B"/>
                </a:solidFill>
              </a:rPr>
              <a:t>Know how an ANEEL resolution hits your borrower's EBITDA before the market does.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11430000" cy="27432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3520440" cy="384048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53619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02B"/>
                </a:solidFill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965960"/>
            <a:ext cx="3337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CF4"/>
                </a:solidFill>
              </a:rPr>
              <a:t>Regulatory changes (WACC revision, new PRODIST modules, RN 1.072) alter distribuidora cash flows — but tracking cascades across 40+ resolutions manually is impossible.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508760"/>
            <a:ext cx="3520440" cy="384048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33088" y="153619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02B"/>
                </a:solidFill>
              </a:rPr>
              <a:t>HOW GRAPHIFY HELPS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3088" y="1965960"/>
            <a:ext cx="3337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CF4"/>
                </a:solidFill>
              </a:rPr>
              <a:t>Feed all ANEEL resolutions + company concession contracts into graphify. Ask: 'If the WACC drops from 8.44% to 7.9%, which companies in our portfolio lose the most RAB value?'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26679" y="1508760"/>
            <a:ext cx="4114800" cy="384048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7" y="153619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02B"/>
                </a:solidFill>
              </a:rPr>
              <a:t>OUTPUT + 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6407" y="1965960"/>
            <a:ext cx="3931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CF4"/>
                </a:solidFill>
              </a:rPr>
              <a:t>Ranked list of portfolio companies by exposure + quantified EBITDA impact
💡 Equatorial Energia: -R$420M RAB impact from proposed WACC cut → covenant headroom shrinks 0.3× on 3 debenture tranches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09904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7B5"/>
                </a:solidFill>
              </a:rPr>
              <a:t>ANEEL  ·  WACC  ·  RAB  ·  Tariff Review  ·  Covenant Risk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28600"/>
            <a:ext cx="777240" cy="685800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46888"/>
            <a:ext cx="777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1B3E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56032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Credit Due Diligence in Hours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8412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9A02B"/>
                </a:solidFill>
              </a:rPr>
              <a:t>Cut new deal research from 3 weeks to an afternoon.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11430000" cy="27432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3520440" cy="384048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53619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02B"/>
                </a:solidFill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965960"/>
            <a:ext cx="3337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CF4"/>
                </a:solidFill>
              </a:rPr>
              <a:t>A new deal hits your desk: Energisa MT wants R$800M in debentures. The analyst team needs regulatory exposure, competitive position, and covenant comparables — typically 15–20 days.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508760"/>
            <a:ext cx="3520440" cy="384048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33088" y="153619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02B"/>
                </a:solidFill>
              </a:rPr>
              <a:t>HOW GRAPHIFY HELPS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3088" y="1965960"/>
            <a:ext cx="3337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CF4"/>
                </a:solidFill>
              </a:rPr>
              <a:t>Load Energisa annual reports + MT concession contract + ANEEL tariff history into graphify. Run structured queries: regulatory profile, revenue composition, key risks, covenant benchmarks.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26679" y="1508760"/>
            <a:ext cx="4114800" cy="384048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7" y="153619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02B"/>
                </a:solidFill>
              </a:rPr>
              <a:t>OUTPUT + 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6407" y="1965960"/>
            <a:ext cx="3931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CF4"/>
                </a:solidFill>
              </a:rPr>
              <a:t>Structured credit memo draft with cited sources — ready in &lt;4 hours
💡 Identified hidden exposure: MT concession requires R$1.2B CAPEX commitment by 2028 — not prominently disclosed in investor presentation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09904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7B5"/>
                </a:solidFill>
              </a:rPr>
              <a:t>Due Diligence  ·  Concession Risk  ·  Speed  ·  Credit Memo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28600"/>
            <a:ext cx="777240" cy="685800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46888"/>
            <a:ext cx="777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1B3E"/>
                </a:solidFill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56032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Covenant Trigger Early Warning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8412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9A02B"/>
                </a:solidFill>
              </a:rPr>
              <a:t>Surface regulatory events that could breach loan covenants before they happen.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11430000" cy="27432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3520440" cy="384048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53619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02B"/>
                </a:solidFill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965960"/>
            <a:ext cx="3337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CF4"/>
                </a:solidFill>
              </a:rPr>
              <a:t>Loan covenants reference ANEEL regulatory metrics (DEC/FEC, tariff coverage ratios) — but mapping an incoming regulatory change to a specific covenant breach requires deep cross-referencing.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508760"/>
            <a:ext cx="3520440" cy="384048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33088" y="153619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02B"/>
                </a:solidFill>
              </a:rPr>
              <a:t>HOW GRAPHIFY HELPS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3088" y="1965960"/>
            <a:ext cx="3337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CF4"/>
                </a:solidFill>
              </a:rPr>
              <a:t>Load loan contracts + regulatory calendar + company operational data. Graphify maps regulatory triggers → financial metrics → covenant definitions automatically.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26679" y="1508760"/>
            <a:ext cx="4114800" cy="384048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7" y="153619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02B"/>
                </a:solidFill>
              </a:rPr>
              <a:t>OUTPUT + 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6407" y="1965960"/>
            <a:ext cx="3931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CF4"/>
                </a:solidFill>
              </a:rPr>
              <a:t>Alert: '3 regulatory events in the next 6 months could trigger covenant review for 2 portfolio companies'
💡 Cemig-D: DEC deterioration in Q1 2026 triggers potential ANEEL fine of R$180M → DSCR drops below 1.2× threshold in Dec 2026 debenture indenture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09904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7B5"/>
                </a:solidFill>
              </a:rPr>
              <a:t>Covenant Monitoring  ·  DEC/FEC  ·  Early Warning  ·  DSCR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28600"/>
            <a:ext cx="777240" cy="685800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46888"/>
            <a:ext cx="777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1B3E"/>
                </a:solidFill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56032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Portfolio-Wide Stress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8412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9A02B"/>
                </a:solidFill>
              </a:rPr>
              <a:t>Simulate a regulatory shock across your entire utilities book in one query.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11430000" cy="27432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3520440" cy="384048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53619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02B"/>
                </a:solidFill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965960"/>
            <a:ext cx="3337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CF4"/>
                </a:solidFill>
              </a:rPr>
              <a:t>If the Brazilian energy market fully opens (ACL liberalization in 2028), which distribuidoras in your portfolio are most exposed? Running this manually across 8 positions takes weeks.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508760"/>
            <a:ext cx="3520440" cy="384048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33088" y="153619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02B"/>
                </a:solidFill>
              </a:rPr>
              <a:t>HOW GRAPHIFY HELPS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3088" y="1965960"/>
            <a:ext cx="3337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CF4"/>
                </a:solidFill>
              </a:rPr>
              <a:t>Load all portfolio company filings + ACL migration data + ANEEL market opening rules. Ask: 'Rank our portfolio by ACL migration exposure and projected revenue loss by 2028.'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26679" y="1508760"/>
            <a:ext cx="4114800" cy="384048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7" y="153619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02B"/>
                </a:solidFill>
              </a:rPr>
              <a:t>OUTPUT + 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6407" y="1965960"/>
            <a:ext cx="3931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CF4"/>
                </a:solidFill>
              </a:rPr>
              <a:t>Stress matrix: company × scenario × EBITDA impact × covenant headroom
💡 Scenario: 45% ACL penetration by 2028 — Copel-DIS loses ~R$890M revenue; Energisa MT is partially protected by rural mix (lower migration rate)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09904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7B5"/>
                </a:solidFill>
              </a:rPr>
              <a:t>Stress Testing  ·  ACL  ·  Portfolio Risk  ·  Scenario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28600"/>
            <a:ext cx="777240" cy="685800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46888"/>
            <a:ext cx="777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1B3E"/>
                </a:solidFill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56032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Hidden Counterparty Exposure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8412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9A02B"/>
                </a:solidFill>
              </a:rPr>
              <a:t>Discover when two borrowers are more connected than they appear.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11430000" cy="27432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3520440" cy="384048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53619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02B"/>
                </a:solidFill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965960"/>
            <a:ext cx="3337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CF4"/>
                </a:solidFill>
              </a:rPr>
              <a:t>You hold debt in both CPFL Comercialização and a large industrial consumer that migrated to ACL. If the industrial defaults on its energy contract, CPFL is exposed — and so are you, twice.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508760"/>
            <a:ext cx="3520440" cy="384048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33088" y="153619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02B"/>
                </a:solidFill>
              </a:rPr>
              <a:t>HOW GRAPHIFY HELPS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3088" y="1965960"/>
            <a:ext cx="3337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CF4"/>
                </a:solidFill>
              </a:rPr>
              <a:t>Build a cross-portfolio knowledge graph linking energy contracts, CCEE settlements, and counterparty names. Graphify surfaces implicit connections across documents.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26679" y="1508760"/>
            <a:ext cx="4114800" cy="384048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7" y="153619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02B"/>
                </a:solidFill>
              </a:rPr>
              <a:t>OUTPUT + 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6407" y="1965960"/>
            <a:ext cx="3931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CF4"/>
                </a:solidFill>
              </a:rPr>
              <a:t>Network visualization of cross-exposures + quantified bilateral risk
💡 Found: Neoenergia and Equatorial share 3 common large free-market consumers in BA — concentration risk not visible from individual loan files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09904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7B5"/>
                </a:solidFill>
              </a:rPr>
              <a:t>Counterparty Risk  ·  CCEE  ·  Concentration  ·  ACL Contracts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28600"/>
            <a:ext cx="777240" cy="685800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46888"/>
            <a:ext cx="777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1B3E"/>
                </a:solidFill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56032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Tariff Review Impact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8412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9A02B"/>
                </a:solidFill>
              </a:rPr>
              <a:t>Model how the next RTP cycle reshapes borrower cash flows.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11430000" cy="27432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3520440" cy="384048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53619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02B"/>
                </a:solidFill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965960"/>
            <a:ext cx="3337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CF4"/>
                </a:solidFill>
              </a:rPr>
              <a:t>Each RTP resets the distribuidora's EBITDA for 4 years. Upcoming reviews for Cemig (2026) and Energisa (2027) will reprice the RAB — but the regulatory methodology is 400+ pages.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508760"/>
            <a:ext cx="3520440" cy="384048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33088" y="153619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02B"/>
                </a:solidFill>
              </a:rPr>
              <a:t>HOW GRAPHIFY HELPS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3088" y="1965960"/>
            <a:ext cx="3337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CF4"/>
                </a:solidFill>
              </a:rPr>
              <a:t>Load ANEEL RTP methodology + previous review decisions + company efficiency benchmarks. Ask: 'What is the likely outcome of Cemig's 2026 RTP given its current DEA efficiency score?'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26679" y="1508760"/>
            <a:ext cx="4114800" cy="384048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7" y="153619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02B"/>
                </a:solidFill>
              </a:rPr>
              <a:t>OUTPUT + 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6407" y="1965960"/>
            <a:ext cx="3931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CF4"/>
                </a:solidFill>
              </a:rPr>
              <a:t>Projected RAB + EBITDA delta for each upcoming review with confidence range
💡 Cemig 2026 RTP: DEA score 0.78 vs peer average 0.84 → likely OPEX glosa of 8% → EBITDA impact -R$310M/year over the next 4-year cycle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09904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7B5"/>
                </a:solidFill>
              </a:rPr>
              <a:t>RTP  ·  RAB  ·  DEA Efficiency  ·  Cemig  ·  EBITDA Forecast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28600"/>
            <a:ext cx="777240" cy="685800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46888"/>
            <a:ext cx="777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1B3E"/>
                </a:solidFill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56032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ESG &amp; Green Finance Eligibility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8412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9A02B"/>
                </a:solidFill>
              </a:rPr>
              <a:t>Instantly verify if a deal qualifies for green bond or sustainability-linked structures.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11430000" cy="27432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3520440" cy="384048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53619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02B"/>
                </a:solidFill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965960"/>
            <a:ext cx="3337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CF4"/>
                </a:solidFill>
              </a:rPr>
              <a:t>ESG-linked structures (green debentures, CRAs, SLBs) are now 30% of Brazilian infra debt issuances — but verifying NDC alignment and taxonomy eligibility requires reading 6+ frameworks.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508760"/>
            <a:ext cx="3520440" cy="384048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33088" y="153619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02B"/>
                </a:solidFill>
              </a:rPr>
              <a:t>HOW GRAPHIFY HELPS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3088" y="1965960"/>
            <a:ext cx="3337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CF4"/>
                </a:solidFill>
              </a:rPr>
              <a:t>Load company ESG reports + NDC targets + ICMA green bond principles + Brazilian Taxonomy (in force 2025). Graphify cross-references automatically.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26679" y="1508760"/>
            <a:ext cx="4114800" cy="384048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7" y="153619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02B"/>
                </a:solidFill>
              </a:rPr>
              <a:t>OUTPUT + 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6407" y="1965960"/>
            <a:ext cx="3931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CF4"/>
                </a:solidFill>
              </a:rPr>
              <a:t>Eligibility scorecard: green/amber/red for each ESG framework + suggested KPI structure for SLBs
💡 Neoenergia offshore wind project: eligible under ICMA Climate Bonds Standard, Brazilian Taxonomy Cat. 1, and aligns with NDC 2030 targets — supports 30bps SLB premium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09904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7B5"/>
                </a:solidFill>
              </a:rPr>
              <a:t>ESG  ·  Green Bonds  ·  NDC  ·  SLB  ·  Brazilian Taxonomy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28600"/>
            <a:ext cx="777240" cy="685800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46888"/>
            <a:ext cx="777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1B3E"/>
                </a:solidFill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56032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Free Market Migration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8412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9A02B"/>
                </a:solidFill>
              </a:rPr>
              <a:t>Track the ACL migration wave before it erodes distribuidora revenue.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11430000" cy="27432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3520440" cy="384048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53619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02B"/>
                </a:solidFill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965960"/>
            <a:ext cx="3337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CF4"/>
                </a:solidFill>
              </a:rPr>
              <a:t>11,200 new free-market consumers in 2025 alone. Each migration reduces regulated revenue for distribuidoras — but the impact is uneven and hard to model at the company level.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508760"/>
            <a:ext cx="3520440" cy="384048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33088" y="153619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02B"/>
                </a:solidFill>
              </a:rPr>
              <a:t>HOW GRAPHIFY HELPS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3088" y="1965960"/>
            <a:ext cx="3337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CF4"/>
                </a:solidFill>
              </a:rPr>
              <a:t>Load CCEE migration data + distribuidora demand profiles + ANEEL metering data. Graphify builds a migration risk score for each concession area.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26679" y="1508760"/>
            <a:ext cx="4114800" cy="384048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7" y="153619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02B"/>
                </a:solidFill>
              </a:rPr>
              <a:t>OUTPUT + 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6407" y="1965960"/>
            <a:ext cx="3931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CF4"/>
                </a:solidFill>
              </a:rPr>
              <a:t>Migration risk ranking by concession area + revenue-at-risk over 3 years
💡 Copel-DIS: 38% of its industrial load (class A consumers) eligible to migrate by 2026 → R$1.1B revenue exposure, partially offset by TUSD retention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09904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7B5"/>
                </a:solidFill>
              </a:rPr>
              <a:t>ACL Migration  ·  Copel  ·  Revenue Risk  ·  TUSD  ·  CCEE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28600"/>
            <a:ext cx="777240" cy="685800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46888"/>
            <a:ext cx="777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1B3E"/>
                </a:solidFill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56032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Concession Renewal Risk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8412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9A02B"/>
                </a:solidFill>
              </a:rPr>
              <a:t>Flag concession expirations before they become credit events.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11430000" cy="27432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3520440" cy="384048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53619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02B"/>
                </a:solidFill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965960"/>
            <a:ext cx="3337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CF4"/>
                </a:solidFill>
              </a:rPr>
              <a:t>Cemig's hydro concessions (Emborcação, Nova Ponte, Volta Grande) expire 2028–2030. Renewal conditions, potential CDE payments, and new CAPEX obligations are spread across 12+ legal documents.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508760"/>
            <a:ext cx="3520440" cy="384048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33088" y="153619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02B"/>
                </a:solidFill>
              </a:rPr>
              <a:t>HOW GRAPHIFY HELPS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3088" y="1965960"/>
            <a:ext cx="3337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CF4"/>
                </a:solidFill>
              </a:rPr>
              <a:t>Load all concession contracts + MME renewal proposals + ANEEL precedents. Graphify extracts expiry dates, conditions, and cross-references renewal risk to debt maturity schedules.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26679" y="1508760"/>
            <a:ext cx="4114800" cy="384048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7" y="153619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02B"/>
                </a:solidFill>
              </a:rPr>
              <a:t>OUTPUT + 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6407" y="1965960"/>
            <a:ext cx="3931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CF4"/>
                </a:solidFill>
              </a:rPr>
              <a:t>Concession renewal risk matrix: company × asset × expiry date × renewal probability × debt impact
💡 Cemig: Emborcação (1,192 MW) expiry 2028 — if auctioned (not renewed), EBITDA loss of R$680M/year → debt/EBITDA breaches 3.5× threshold in 18 months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09904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7B5"/>
                </a:solidFill>
              </a:rPr>
              <a:t>Concession Risk  ·  Cemig  ·  Hydro  ·  Renewal  ·  Maturity Profile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28600"/>
            <a:ext cx="777240" cy="685800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46888"/>
            <a:ext cx="777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1B3E"/>
                </a:solidFill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56032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M&amp;A and Deal Sourcing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8412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9A02B"/>
                </a:solidFill>
              </a:rPr>
              <a:t>Find the next deal before the pitch arrives.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11430000" cy="27432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3520440" cy="384048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53619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02B"/>
                </a:solidFill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965960"/>
            <a:ext cx="3337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CF4"/>
                </a:solidFill>
              </a:rPr>
              <a:t>Which utilities are likely sellers? Which have credit profiles that improve with a strategic acquirer? Screening 40+ companies quarterly is resource-intensive.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508760"/>
            <a:ext cx="3520440" cy="384048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33088" y="153619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02B"/>
                </a:solidFill>
              </a:rPr>
              <a:t>HOW GRAPHIFY HELPS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3088" y="1965960"/>
            <a:ext cx="3337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CF4"/>
                </a:solidFill>
              </a:rPr>
              <a:t>Load sector news + M&amp;A precedents + company strategic plans + regulatory constraints on change of control. Graphify builds a deal probability model from the ground up.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26679" y="1508760"/>
            <a:ext cx="4114800" cy="384048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7" y="153619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02B"/>
                </a:solidFill>
              </a:rPr>
              <a:t>OUTPUT + 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6407" y="1965960"/>
            <a:ext cx="3931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CF4"/>
                </a:solidFill>
              </a:rPr>
              <a:t>Watchlist: top 5 companies with elevated M&amp;A probability + likely acquirer + credit implications of deal
💡 Identified 9 months early: Enel Brasil distribution assets likely to be sold (regulatory pressure + parent capex reallocation) → BTG structured bridge financing for Equatorial acquisition at 180bps spread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09904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7B5"/>
                </a:solidFill>
              </a:rPr>
              <a:t>M&amp;A  ·  Deal Sourcing  ·  Equatorial  ·  Enel Brasil  ·  Change of Control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How to Get Started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51560"/>
            <a:ext cx="8686800" cy="36576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2606040" cy="4023360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2606040" cy="502920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49047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21031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Install graphify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69748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CF4"/>
                </a:solidFill>
              </a:rPr>
              <a:t>pip install graphifyy &amp;&amp; graphify install
(one-time setup, ~2 min)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463040"/>
            <a:ext cx="2606040" cy="4023360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463040"/>
            <a:ext cx="2606040" cy="502920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128" y="149047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21031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Feed your documents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269748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CF4"/>
                </a:solidFill>
              </a:rPr>
              <a:t>Drop PDFs, MD files, or images into raw/
(ANEEL resolutions, annual reports, concession contracts)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463040"/>
            <a:ext cx="2606040" cy="4023360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463040"/>
            <a:ext cx="2606040" cy="502920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4768" y="149047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4768" y="21031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Build the graph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4768" y="269748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CF4"/>
                </a:solidFill>
              </a:rPr>
              <a:t>Run /graphify ./raw inside Claude Code
(processes only new files on re-runs — SHA-256 cache)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0" y="1463040"/>
            <a:ext cx="2606040" cy="4023360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69680" y="1463040"/>
            <a:ext cx="2606040" cy="502920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9408" y="149047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</a:rPr>
              <a:t>Step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21031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Query in plain language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9408" y="269748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CF4"/>
                </a:solidFill>
              </a:rPr>
              <a:t>Ask in Português or English.
Answers are cited to source documents.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16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6099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A02B"/>
                </a:solidFill>
              </a:rPr>
              <a:t>github.com/safishamsi/graphify   |   Open source   |   Works inside Claude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